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2055"/>
  </p:normalViewPr>
  <p:slideViewPr>
    <p:cSldViewPr snapToGrid="0">
      <p:cViewPr varScale="1">
        <p:scale>
          <a:sx n="117" d="100"/>
          <a:sy n="117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17741-B334-2E42-B9A4-B9CC3EEB96F7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58E3D-E41D-234A-B4C4-38E44C39A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7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✅ 1. </a:t>
            </a:r>
            <a:r>
              <a:rPr lang="en-US" b="1" dirty="0" err="1"/>
              <a:t>home_close_match_pct</a:t>
            </a:r>
            <a:r>
              <a:rPr lang="en-US" b="1" dirty="0"/>
              <a:t> (</a:t>
            </a:r>
            <a:r>
              <a:rPr lang="en-US" b="1" dirty="0" err="1"/>
              <a:t>coef</a:t>
            </a:r>
            <a:r>
              <a:rPr lang="en-US" b="1" dirty="0"/>
              <a:t> = -0.034, p = 0.000)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Interpretation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For every 1 percentage point increase in close matches at home (games decided by just one goal), the odds of the team being from a </a:t>
            </a:r>
            <a:r>
              <a:rPr lang="en-US" b="1" dirty="0"/>
              <a:t>European league decrease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European teams </a:t>
            </a:r>
            <a:r>
              <a:rPr lang="en-US" b="1" dirty="0"/>
              <a:t>tend to win or lose by wider margins</a:t>
            </a:r>
            <a:r>
              <a:rPr lang="en-US" dirty="0"/>
              <a:t> at home, suggesting greater dominance or disparity, whereas </a:t>
            </a:r>
            <a:r>
              <a:rPr lang="en-US" b="1" dirty="0"/>
              <a:t>MLS teams are more likely to be involved in tight, close home matches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✅ 2. </a:t>
            </a:r>
            <a:r>
              <a:rPr lang="en-US" b="1" dirty="0" err="1"/>
              <a:t>away_win_pct</a:t>
            </a:r>
            <a:r>
              <a:rPr lang="en-US" b="1" dirty="0"/>
              <a:t> (</a:t>
            </a:r>
            <a:r>
              <a:rPr lang="en-US" b="1" dirty="0" err="1"/>
              <a:t>coef</a:t>
            </a:r>
            <a:r>
              <a:rPr lang="en-US" b="1" dirty="0"/>
              <a:t> = 0.059, p = 0.000)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Interpretation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A 1 percentage point increase in away win percentage increases the odds of being a </a:t>
            </a:r>
            <a:r>
              <a:rPr lang="en-US" b="1" dirty="0"/>
              <a:t>European team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European teams are generally </a:t>
            </a:r>
            <a:r>
              <a:rPr lang="en-US" b="1" dirty="0"/>
              <a:t>stronger on the road</a:t>
            </a:r>
            <a:r>
              <a:rPr lang="en-US" dirty="0"/>
              <a:t>, showing tactical quality and resilience away from home. This is a key marker of competitive quality, while MLS teams often struggle more in away games.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✅ 3. </a:t>
            </a:r>
            <a:r>
              <a:rPr lang="en-US" b="1" dirty="0" err="1"/>
              <a:t>away_close_match_pct</a:t>
            </a:r>
            <a:r>
              <a:rPr lang="en-US" b="1" dirty="0"/>
              <a:t> (</a:t>
            </a:r>
            <a:r>
              <a:rPr lang="en-US" b="1" dirty="0" err="1"/>
              <a:t>coef</a:t>
            </a:r>
            <a:r>
              <a:rPr lang="en-US" b="1" dirty="0"/>
              <a:t> = -0.040, p = 0.000)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Interpretation</a:t>
            </a:r>
            <a:endParaRPr lang="en-US" dirty="0"/>
          </a:p>
          <a:p>
            <a:pPr>
              <a:buNone/>
            </a:pPr>
            <a:r>
              <a:rPr lang="en-US" dirty="0"/>
              <a:t>For every 1 percentage point increase in away matches decided by one goal, the odds of being a </a:t>
            </a:r>
            <a:r>
              <a:rPr lang="en-US" b="1" dirty="0"/>
              <a:t>European team decrease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Similar to home games, </a:t>
            </a:r>
            <a:r>
              <a:rPr lang="en-US" b="1" dirty="0"/>
              <a:t>European teams are less involved in close away games</a:t>
            </a:r>
            <a:r>
              <a:rPr lang="en-US" dirty="0"/>
              <a:t>, indicating they either dominate or fall short decisively. MLS teams play more evenly matched away games, which could suggest more parity—or lower overall control.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✅ 4. </a:t>
            </a:r>
            <a:r>
              <a:rPr lang="en-US" b="1" dirty="0" err="1"/>
              <a:t>avg_age</a:t>
            </a:r>
            <a:r>
              <a:rPr lang="en-US" b="1" dirty="0"/>
              <a:t> (</a:t>
            </a:r>
            <a:r>
              <a:rPr lang="en-US" b="1" dirty="0" err="1"/>
              <a:t>coef</a:t>
            </a:r>
            <a:r>
              <a:rPr lang="en-US" b="1" dirty="0"/>
              <a:t> = -0.455, p = 0.000)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Interpretation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A one-year increase in average squad age decreases the odds of being a </a:t>
            </a:r>
            <a:r>
              <a:rPr lang="en-US" b="1" dirty="0"/>
              <a:t>MLS team</a:t>
            </a:r>
            <a:r>
              <a:rPr lang="en-US" dirty="0"/>
              <a:t> (or, positively associated with being </a:t>
            </a:r>
            <a:r>
              <a:rPr lang="en-US" b="1" dirty="0"/>
              <a:t>European</a:t>
            </a:r>
            <a:r>
              <a:rPr lang="en-US" dirty="0"/>
              <a:t>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MLS teams have younger squads on average</a:t>
            </a:r>
            <a:r>
              <a:rPr lang="en-US" dirty="0"/>
              <a:t>, likely due to differences in player development pipelines, international recruitment, and league maturity. European leagues, by contrast, field more veteran players, possibly reflecting a higher level of tactical and physical experience.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✅ 5. </a:t>
            </a:r>
            <a:r>
              <a:rPr lang="en-US" b="1" dirty="0" err="1"/>
              <a:t>yellow_cards</a:t>
            </a:r>
            <a:r>
              <a:rPr lang="en-US" b="1" dirty="0"/>
              <a:t> (</a:t>
            </a:r>
            <a:r>
              <a:rPr lang="en-US" b="1" dirty="0" err="1"/>
              <a:t>coef</a:t>
            </a:r>
            <a:r>
              <a:rPr lang="en-US" b="1" dirty="0"/>
              <a:t> = 0.026, p = 0.001)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Interpretation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Each additional yellow card is associated with higher odds of being a </a:t>
            </a:r>
            <a:r>
              <a:rPr lang="en-US" b="1" dirty="0"/>
              <a:t>European team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r>
              <a:rPr lang="en-US" dirty="0"/>
              <a:t>European teams </a:t>
            </a:r>
            <a:r>
              <a:rPr lang="en-US" b="1" dirty="0"/>
              <a:t>commit more fouls that result in bookings</a:t>
            </a:r>
            <a:r>
              <a:rPr lang="en-US" dirty="0"/>
              <a:t>, which could indicate a more aggressive or intense style of play. This may reflect stronger defensive pressure, tactical fouls, or higher match stakes overall.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58E3D-E41D-234A-B4C4-38E44C39AC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0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0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24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9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0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9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2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27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6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97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73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EF922-7CE0-A562-050F-639349EA0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4542"/>
            <a:ext cx="4082902" cy="2824669"/>
          </a:xfrm>
        </p:spPr>
        <p:txBody>
          <a:bodyPr anchor="t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sz="4000" dirty="0"/>
              <a:t>Comparative Analysis of Competitiveness in European Football League and MLS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F7B98-4335-BDBC-A135-70CE12F46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526" y="4343227"/>
            <a:ext cx="3519376" cy="1160231"/>
          </a:xfrm>
        </p:spPr>
        <p:txBody>
          <a:bodyPr anchor="b">
            <a:normAutofit/>
          </a:bodyPr>
          <a:lstStyle/>
          <a:p>
            <a:pPr algn="r"/>
            <a:r>
              <a:rPr lang="en-US" dirty="0" err="1"/>
              <a:t>Xingyang</a:t>
            </a:r>
            <a:r>
              <a:rPr lang="en-US" dirty="0"/>
              <a:t> (Simon)Chen</a:t>
            </a:r>
          </a:p>
        </p:txBody>
      </p:sp>
      <p:pic>
        <p:nvPicPr>
          <p:cNvPr id="18" name="Video 17" descr="Soccer Ball Hitting The Net Goal">
            <a:extLst>
              <a:ext uri="{FF2B5EF4-FFF2-40B4-BE49-F238E27FC236}">
                <a16:creationId xmlns:a16="http://schemas.microsoft.com/office/drawing/2014/main" id="{2F6F5BD6-F4F8-3E0F-2F2B-2572867557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/>
        </p:blipFill>
        <p:spPr>
          <a:xfrm>
            <a:off x="4229100" y="1354542"/>
            <a:ext cx="7290648" cy="408934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35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9580-E017-AFB3-6253-5A233DC2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3762-1F93-F537-7365-BA35462EF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Key Team-level Performance Metrics Do European Football Leagues Demonstrate Greater Competitiveness Than MLS?</a:t>
            </a:r>
          </a:p>
          <a:p>
            <a:endParaRPr lang="en-US" sz="2800" dirty="0"/>
          </a:p>
          <a:p>
            <a:pPr>
              <a:buFont typeface="Wingdings" pitchFamily="2" charset="2"/>
              <a:buChar char="à"/>
            </a:pPr>
            <a:r>
              <a:rPr lang="en-US" sz="2400" dirty="0">
                <a:sym typeface="Wingdings" pitchFamily="2" charset="2"/>
              </a:rPr>
              <a:t>Foundational Assumption: </a:t>
            </a:r>
          </a:p>
          <a:p>
            <a:pPr marL="0" indent="0" algn="ctr">
              <a:buNone/>
            </a:pPr>
            <a:r>
              <a:rPr lang="en-US" sz="2400" dirty="0">
                <a:sym typeface="Wingdings" pitchFamily="2" charset="2"/>
              </a:rPr>
              <a:t>European Leagues are inherently more competitive than MLS</a:t>
            </a:r>
          </a:p>
          <a:p>
            <a:pPr marL="0" indent="0" algn="ctr">
              <a:buNone/>
            </a:pPr>
            <a:r>
              <a:rPr lang="en-US" i="1" dirty="0">
                <a:sym typeface="Wingdings" pitchFamily="2" charset="2"/>
              </a:rPr>
              <a:t>EU Leagues: Competitive = 1, MLS: Competitive = 0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5295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8E1E9-07F3-9520-0870-8085ACB3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Methodology </a:t>
            </a:r>
          </a:p>
        </p:txBody>
      </p:sp>
      <p:pic>
        <p:nvPicPr>
          <p:cNvPr id="12" name="Graphic 11" descr="Mop and bucket">
            <a:extLst>
              <a:ext uri="{FF2B5EF4-FFF2-40B4-BE49-F238E27FC236}">
                <a16:creationId xmlns:a16="http://schemas.microsoft.com/office/drawing/2014/main" id="{6210FFF8-A670-897D-A1F1-3BDD9302D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3" y="3429000"/>
            <a:ext cx="2553768" cy="25537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4072-5BD9-6A27-09D6-044F5133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397" y="692796"/>
            <a:ext cx="7550775" cy="54724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Data (</a:t>
            </a:r>
            <a:r>
              <a:rPr lang="en-US" sz="2400" b="1" dirty="0" err="1"/>
              <a:t>Fbref</a:t>
            </a:r>
            <a:r>
              <a:rPr lang="en-US" sz="2400" b="1" dirty="0"/>
              <a:t>):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Team-level standings, fixtures, and performance stats from 2010–2024 across 5 major European leagues + MLS.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Feature Selection: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Used RFECV to choose top predictive metrics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Modeling Approaches:</a:t>
            </a:r>
            <a:endParaRPr lang="en-US" sz="2400" dirty="0"/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Logistic Regression &amp; Decision Tree Classifier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Cross-Validation: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	Stratified K-Fold CV (5-fold)</a:t>
            </a:r>
          </a:p>
          <a:p>
            <a:pPr>
              <a:lnSpc>
                <a:spcPct val="11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Two Datasets Modeled:</a:t>
            </a:r>
            <a:endParaRPr lang="en-US" sz="2400" dirty="0"/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All teams across all seasons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Only qualified/high-performing teams (e.g., UEFA or conference teams)</a:t>
            </a:r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193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93ED-7FAD-1CFA-F1D8-28C1B759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0CE6A894-325E-FBB2-4E0D-6998DADA3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42" y="2158825"/>
            <a:ext cx="6842349" cy="4074657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1F1AC0-3B24-5F0D-9CF4-D0C622AD2BE8}"/>
              </a:ext>
            </a:extLst>
          </p:cNvPr>
          <p:cNvSpPr txBox="1"/>
          <p:nvPr/>
        </p:nvSpPr>
        <p:spPr>
          <a:xfrm>
            <a:off x="4830969" y="5291237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-0.034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1A2A7C-7613-4E6C-E127-BAC121C15C71}"/>
              </a:ext>
            </a:extLst>
          </p:cNvPr>
          <p:cNvSpPr txBox="1"/>
          <p:nvPr/>
        </p:nvSpPr>
        <p:spPr>
          <a:xfrm>
            <a:off x="5238219" y="463789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9C6AC2-44C2-8E38-F935-09A1F2C743F8}"/>
              </a:ext>
            </a:extLst>
          </p:cNvPr>
          <p:cNvSpPr txBox="1"/>
          <p:nvPr/>
        </p:nvSpPr>
        <p:spPr>
          <a:xfrm>
            <a:off x="4885399" y="396317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BF562-7123-74F2-925C-9618BBA34A0A}"/>
              </a:ext>
            </a:extLst>
          </p:cNvPr>
          <p:cNvSpPr txBox="1"/>
          <p:nvPr/>
        </p:nvSpPr>
        <p:spPr>
          <a:xfrm>
            <a:off x="5965593" y="3307678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-0.455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5B039-4D0B-9BA1-CF84-C8E5ABE879ED}"/>
              </a:ext>
            </a:extLst>
          </p:cNvPr>
          <p:cNvSpPr txBox="1"/>
          <p:nvPr/>
        </p:nvSpPr>
        <p:spPr>
          <a:xfrm>
            <a:off x="5301276" y="2661692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2BFB7-3FFE-808C-D23D-6E797EA98B48}"/>
              </a:ext>
            </a:extLst>
          </p:cNvPr>
          <p:cNvSpPr txBox="1"/>
          <p:nvPr/>
        </p:nvSpPr>
        <p:spPr>
          <a:xfrm>
            <a:off x="2291461" y="473282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 = 0.000</a:t>
            </a:r>
          </a:p>
        </p:txBody>
      </p:sp>
      <p:pic>
        <p:nvPicPr>
          <p:cNvPr id="25" name="Picture 24" descr="A diagram of a number of samples&#10;&#10;AI-generated content may be incorrect.">
            <a:extLst>
              <a:ext uri="{FF2B5EF4-FFF2-40B4-BE49-F238E27FC236}">
                <a16:creationId xmlns:a16="http://schemas.microsoft.com/office/drawing/2014/main" id="{EA4B1031-521E-1789-91A7-A5C56B234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57" y="1513114"/>
            <a:ext cx="5453743" cy="44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8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22F1-403C-C084-0D2F-376AA88C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US" dirty="0"/>
              <a:t>Takeaways &amp; Discussions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occer Player">
            <a:extLst>
              <a:ext uri="{FF2B5EF4-FFF2-40B4-BE49-F238E27FC236}">
                <a16:creationId xmlns:a16="http://schemas.microsoft.com/office/drawing/2014/main" id="{49667F5A-24CB-B2E6-B535-5D5E31A25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280" y="3552264"/>
            <a:ext cx="2745660" cy="2745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4A2B-8AC6-252F-804F-34C5625F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8219" y="642262"/>
            <a:ext cx="7523923" cy="583473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2200" b="1" u="sng" dirty="0"/>
              <a:t>European teams</a:t>
            </a:r>
            <a:r>
              <a:rPr lang="en-US" sz="2200" u="sng" dirty="0"/>
              <a:t> are more likely to: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Have </a:t>
            </a:r>
            <a:r>
              <a:rPr lang="en-US" sz="2200" b="1" dirty="0"/>
              <a:t>higher away win percentages</a:t>
            </a:r>
            <a:endParaRPr lang="en-US" sz="2200" dirty="0"/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Drag into less </a:t>
            </a:r>
            <a:r>
              <a:rPr lang="en-US" sz="2200" b="1" dirty="0"/>
              <a:t>close match</a:t>
            </a:r>
            <a:r>
              <a:rPr lang="en-US" sz="2200" dirty="0"/>
              <a:t> situations (both home &amp; away)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Older </a:t>
            </a:r>
            <a:r>
              <a:rPr lang="en-US" sz="2200" b="1" dirty="0"/>
              <a:t>squads</a:t>
            </a:r>
            <a:endParaRPr lang="en-US" sz="2200" dirty="0"/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Accumulate </a:t>
            </a:r>
            <a:r>
              <a:rPr lang="en-US" sz="2200" b="1" dirty="0"/>
              <a:t>slightly more yellow cards</a:t>
            </a:r>
            <a:r>
              <a:rPr lang="en-US" sz="2200" dirty="0"/>
              <a:t>.</a:t>
            </a:r>
          </a:p>
          <a:p>
            <a:pPr>
              <a:lnSpc>
                <a:spcPct val="110000"/>
              </a:lnSpc>
              <a:buNone/>
            </a:pPr>
            <a:r>
              <a:rPr lang="en-US" sz="2200" b="1" u="sng" dirty="0"/>
              <a:t>Discussion</a:t>
            </a:r>
            <a:endParaRPr lang="en-US" sz="2200" u="sng" dirty="0"/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Based on Common Beliefs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Maybe reveal </a:t>
            </a:r>
            <a:r>
              <a:rPr lang="en-US" sz="2200" b="1" dirty="0"/>
              <a:t>structural and stylistic differences</a:t>
            </a:r>
            <a:r>
              <a:rPr lang="en-US" sz="2200" dirty="0"/>
              <a:t>, but no results: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</a:t>
            </a:r>
            <a:r>
              <a:rPr lang="en-US" sz="2200" b="1" dirty="0"/>
              <a:t>MLS teams</a:t>
            </a:r>
            <a:r>
              <a:rPr lang="en-US" sz="2200" dirty="0"/>
              <a:t> show more </a:t>
            </a:r>
            <a:r>
              <a:rPr lang="en-US" sz="2200" b="1" dirty="0"/>
              <a:t>parity and variability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</a:t>
            </a:r>
            <a:r>
              <a:rPr lang="en-US" sz="2200" b="1" dirty="0"/>
              <a:t>European teams</a:t>
            </a:r>
            <a:r>
              <a:rPr lang="en-US" sz="2200" dirty="0"/>
              <a:t> show </a:t>
            </a:r>
            <a:r>
              <a:rPr lang="en-US" sz="2200" b="1" dirty="0"/>
              <a:t>consistency, control, and tactical maturity</a:t>
            </a:r>
            <a:endParaRPr lang="en-US" sz="2200" dirty="0"/>
          </a:p>
          <a:p>
            <a:pPr>
              <a:lnSpc>
                <a:spcPct val="110000"/>
              </a:lnSpc>
              <a:buNone/>
            </a:pPr>
            <a:r>
              <a:rPr lang="en-US" sz="2200" b="1" u="sng" dirty="0"/>
              <a:t>Future Directions</a:t>
            </a:r>
            <a:endParaRPr lang="en-US" sz="2200" u="sng" dirty="0"/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Try </a:t>
            </a:r>
            <a:r>
              <a:rPr lang="en-US" sz="2200" b="1" dirty="0"/>
              <a:t>unsupervised clustering</a:t>
            </a:r>
            <a:r>
              <a:rPr lang="en-US" sz="2200" dirty="0"/>
              <a:t> to explore natural groupings without assumptions.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200" dirty="0"/>
              <a:t>• Introduce </a:t>
            </a:r>
            <a:r>
              <a:rPr lang="en-US" sz="2200" b="1" dirty="0"/>
              <a:t>more advanced metrics</a:t>
            </a:r>
            <a:r>
              <a:rPr lang="en-US" sz="2200" dirty="0"/>
              <a:t> (e.g., expected goals, possession zones).</a:t>
            </a:r>
          </a:p>
          <a:p>
            <a:pPr marL="265176" lvl="1" indent="0">
              <a:lnSpc>
                <a:spcPct val="110000"/>
              </a:lnSpc>
              <a:buNone/>
            </a:pPr>
            <a:r>
              <a:rPr lang="en-US" sz="2200" dirty="0"/>
              <a:t>• Analyze off-court metrics</a:t>
            </a:r>
          </a:p>
          <a:p>
            <a:pPr>
              <a:lnSpc>
                <a:spcPct val="110000"/>
              </a:lnSpc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8707528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680</Words>
  <Application>Microsoft Macintosh PowerPoint</Application>
  <PresentationFormat>Widescreen</PresentationFormat>
  <Paragraphs>88</Paragraphs>
  <Slides>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Courier New</vt:lpstr>
      <vt:lpstr>Grandview Display</vt:lpstr>
      <vt:lpstr>Wingdings</vt:lpstr>
      <vt:lpstr>DashVTI</vt:lpstr>
      <vt:lpstr>Comparative Analysis of Competitiveness in European Football League and MLS</vt:lpstr>
      <vt:lpstr>Research Question </vt:lpstr>
      <vt:lpstr>Methodology </vt:lpstr>
      <vt:lpstr>Results</vt:lpstr>
      <vt:lpstr>Takeaways &amp; Discussions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Xingyang</dc:creator>
  <cp:lastModifiedBy>Chen, Xingyang</cp:lastModifiedBy>
  <cp:revision>1</cp:revision>
  <dcterms:created xsi:type="dcterms:W3CDTF">2025-04-08T10:33:16Z</dcterms:created>
  <dcterms:modified xsi:type="dcterms:W3CDTF">2025-04-08T12:00:56Z</dcterms:modified>
</cp:coreProperties>
</file>